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Manrope"/>
      <p:regular r:id="rId10"/>
      <p:bold r:id="rId11"/>
    </p:embeddedFont>
    <p:embeddedFont>
      <p:font typeface="Manrope ExtraBold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2">
          <p15:clr>
            <a:srgbClr val="A4A3A4"/>
          </p15:clr>
        </p15:guide>
        <p15:guide id="2" pos="132">
          <p15:clr>
            <a:srgbClr val="A4A3A4"/>
          </p15:clr>
        </p15:guide>
        <p15:guide id="3" pos="5628">
          <p15:clr>
            <a:srgbClr val="9AA0A6"/>
          </p15:clr>
        </p15:guide>
        <p15:guide id="4" orient="horz" pos="3108">
          <p15:clr>
            <a:srgbClr val="9AA0A6"/>
          </p15:clr>
        </p15:guide>
      </p15:sldGuideLst>
    </p:ext>
    <p:ext uri="GoogleSlidesCustomDataVersion2">
      <go:slidesCustomData xmlns:go="http://customooxmlschemas.google.com/" r:id="rId13" roundtripDataSignature="AMtx7mjyboSu1TLmScE7mvQBcbE4dFcS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2" orient="horz"/>
        <p:guide pos="132"/>
        <p:guide pos="5628"/>
        <p:guide pos="310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anrope-bold.fntdata"/><Relationship Id="rId10" Type="http://schemas.openxmlformats.org/officeDocument/2006/relationships/font" Target="fonts/Manrope-regular.fntdata"/><Relationship Id="rId13" Type="http://customschemas.google.com/relationships/presentationmetadata" Target="metadata"/><Relationship Id="rId12" Type="http://schemas.openxmlformats.org/officeDocument/2006/relationships/font" Target="fonts/Manrope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5fe1d4c2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5fe1d4c2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5fe1d4c25_0_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g2f5fe1d4c25_0_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g2f5fe1d4c25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5fe1d4c25_0_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g2f5fe1d4c25_0_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5fe1d4c25_0_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2f5fe1d4c25_0_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g2f5fe1d4c25_0_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5fe1d4c25_0_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g2f5fe1d4c25_0_7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g2f5fe1d4c25_0_7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g2f5fe1d4c25_0_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5fe1d4c25_0_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g2f5fe1d4c25_0_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5fe1d4c25_0_8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g2f5fe1d4c25_0_8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g2f5fe1d4c25_0_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5fe1d4c25_0_8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6" name="Google Shape;76;g2f5fe1d4c25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5fe1d4c25_0_9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2f5fe1d4c25_0_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g2f5fe1d4c25_0_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g2f5fe1d4c25_0_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g2f5fe1d4c25_0_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5fe1d4c25_0_9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5" name="Google Shape;85;g2f5fe1d4c25_0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5fe1d4c25_0_10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g2f5fe1d4c25_0_10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g2f5fe1d4c25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5fe1d4c25_0_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5fe1d4c25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g2f5fe1d4c25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g2f5fe1d4c25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457800" y="457800"/>
            <a:ext cx="7433400" cy="4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Before you start, take note of this:</a:t>
            </a:r>
            <a:endParaRPr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nrope"/>
              <a:buAutoNum type="arabicPeriod"/>
            </a:pPr>
            <a:r>
              <a:rPr i="0" lang="en-GB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This is a deeply reflective and personal exercise. Therefore, carve out some time, and get in a quiet comfortable place.</a:t>
            </a:r>
            <a:endParaRPr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AutoNum type="arabicPeriod"/>
            </a:pPr>
            <a:r>
              <a:rPr i="0" lang="en-GB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If you intend to serve more than one customer segment, </a:t>
            </a:r>
            <a:r>
              <a:rPr b="1" i="0" lang="en-GB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repeat this exercise for each customer segment</a:t>
            </a:r>
            <a:r>
              <a:rPr i="0" lang="en-GB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GB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When you are finished, </a:t>
            </a:r>
            <a:r>
              <a:rPr b="1" lang="en-GB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share your complete problem statement in the discussion forum</a:t>
            </a:r>
            <a:r>
              <a:rPr lang="en-GB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to get feedback from your peers and also give feedback on other people’s problem statements!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nrope"/>
              <a:buAutoNum type="arabicPeriod"/>
            </a:pPr>
            <a:r>
              <a:rPr i="0" lang="en-GB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Have fun, and enjoy the process!</a:t>
            </a:r>
            <a:endParaRPr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210000" y="210002"/>
            <a:ext cx="19584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GB" sz="2400" u="none" cap="none" strike="noStrike">
                <a:solidFill>
                  <a:srgbClr val="A5A5A5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Who is your </a:t>
            </a:r>
            <a:r>
              <a:rPr lang="en-GB" sz="2400">
                <a:solidFill>
                  <a:srgbClr val="A5A5A5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early adopter</a:t>
            </a:r>
            <a:r>
              <a:rPr i="0" lang="en-GB" sz="2400" u="none" cap="none" strike="noStrike">
                <a:solidFill>
                  <a:srgbClr val="A5A5A5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r>
              <a:rPr i="0" lang="en-GB" sz="2400" u="none" cap="none" strike="noStrike">
                <a:solidFill>
                  <a:srgbClr val="00000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customer segment</a:t>
            </a:r>
            <a:r>
              <a:rPr i="0" lang="en-GB" sz="2400" u="none" cap="none" strike="noStrike">
                <a:solidFill>
                  <a:srgbClr val="A5A5A5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?</a:t>
            </a:r>
            <a:endParaRPr i="0" sz="2400" u="none" cap="none" strike="noStrike">
              <a:solidFill>
                <a:srgbClr val="A5A5A5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554500" y="210000"/>
            <a:ext cx="6379500" cy="472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What specific customer segment will you be targeting? (Add at least 3 relevant characteristics)</a:t>
            </a:r>
            <a:endParaRPr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000" u="none" cap="none" strike="noStrike">
                <a:solidFill>
                  <a:srgbClr val="CC0000"/>
                </a:solidFill>
                <a:latin typeface="Manrope"/>
                <a:ea typeface="Manrope"/>
                <a:cs typeface="Manrope"/>
                <a:sym typeface="Manrope"/>
              </a:rPr>
              <a:t>(Write your notes here </a:t>
            </a:r>
            <a:r>
              <a:rPr b="1" i="1" lang="en-GB" sz="1000" u="none" cap="none" strike="noStrike">
                <a:solidFill>
                  <a:srgbClr val="CC0000"/>
                </a:solidFill>
                <a:latin typeface="Manrope"/>
                <a:ea typeface="Manrope"/>
                <a:cs typeface="Manrope"/>
                <a:sym typeface="Manrope"/>
              </a:rPr>
              <a:t>in red</a:t>
            </a:r>
            <a:r>
              <a:rPr i="1" lang="en-GB" sz="1000" u="none" cap="none" strike="noStrike">
                <a:solidFill>
                  <a:srgbClr val="CC0000"/>
                </a:solidFill>
                <a:latin typeface="Manrope"/>
                <a:ea typeface="Manrope"/>
                <a:cs typeface="Manrope"/>
                <a:sym typeface="Manrope"/>
              </a:rPr>
              <a:t>)</a:t>
            </a:r>
            <a:endParaRPr i="0" sz="1000" u="none" cap="none" strike="noStrike">
              <a:solidFill>
                <a:srgbClr val="CC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1000" u="none" cap="none" strike="noStrike">
              <a:solidFill>
                <a:srgbClr val="33333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210000" y="1711250"/>
            <a:ext cx="2185800" cy="32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20650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AutoNum type="arabicPeriod"/>
            </a:pP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Describe your ideal customer segment with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as much detail as possible</a:t>
            </a: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. Go deep with the characteristics (instead of “</a:t>
            </a:r>
            <a:r>
              <a:rPr i="1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wealthy clients in Kenya</a:t>
            </a: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”, write “</a:t>
            </a:r>
            <a:r>
              <a:rPr i="1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30-50 yr old, mid-to-high income women in the Kilimani</a:t>
            </a: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”)</a:t>
            </a:r>
            <a:endParaRPr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20650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AutoNum type="arabicPeriod"/>
            </a:pP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Make sure </a:t>
            </a:r>
            <a:r>
              <a:rPr lang="en-GB" sz="1000">
                <a:latin typeface="Manrope"/>
                <a:ea typeface="Manrope"/>
                <a:cs typeface="Manrope"/>
                <a:sym typeface="Manrope"/>
              </a:rPr>
              <a:t>your peers</a:t>
            </a: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 can easily visualize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who &amp; where your customers are</a:t>
            </a:r>
            <a:r>
              <a:rPr i="0" lang="en-GB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 from your description.</a:t>
            </a:r>
            <a:endParaRPr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5fe1d4c25_0_53"/>
          <p:cNvSpPr txBox="1"/>
          <p:nvPr/>
        </p:nvSpPr>
        <p:spPr>
          <a:xfrm>
            <a:off x="210000" y="2281075"/>
            <a:ext cx="2027100" cy="28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Manrope"/>
                <a:ea typeface="Manrope"/>
                <a:cs typeface="Manrope"/>
                <a:sym typeface="Manrope"/>
              </a:rPr>
              <a:t>Guidelines</a:t>
            </a:r>
            <a:endParaRPr b="1" sz="900">
              <a:latin typeface="Manrope"/>
              <a:ea typeface="Manrope"/>
              <a:cs typeface="Manrope"/>
              <a:sym typeface="Manrope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en-GB" sz="1000">
                <a:latin typeface="Manrope"/>
                <a:ea typeface="Manrope"/>
                <a:cs typeface="Manrope"/>
                <a:sym typeface="Manrope"/>
              </a:rPr>
              <a:t>The consolidated customer problem statement should be as </a:t>
            </a: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concise</a:t>
            </a:r>
            <a:r>
              <a:rPr lang="en-GB" sz="1000">
                <a:latin typeface="Manrope"/>
                <a:ea typeface="Manrope"/>
                <a:cs typeface="Manrope"/>
                <a:sym typeface="Manrope"/>
              </a:rPr>
              <a:t> as possible.</a:t>
            </a:r>
            <a:endParaRPr sz="1000">
              <a:latin typeface="Manrope"/>
              <a:ea typeface="Manrope"/>
              <a:cs typeface="Manrope"/>
              <a:sym typeface="Manrope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en-GB" sz="1000">
                <a:latin typeface="Manrope"/>
                <a:ea typeface="Manrope"/>
                <a:cs typeface="Manrope"/>
                <a:sym typeface="Manrope"/>
              </a:rPr>
              <a:t>The customer’s goal and their most critical unwanted pain or most critical desired gain should be </a:t>
            </a: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reflected in your customer problem statement</a:t>
            </a:r>
            <a:r>
              <a:rPr lang="en-GB" sz="1000">
                <a:latin typeface="Manrope"/>
                <a:ea typeface="Manrope"/>
                <a:cs typeface="Manrope"/>
                <a:sym typeface="Manrope"/>
              </a:rPr>
              <a:t>.</a:t>
            </a:r>
            <a:endParaRPr sz="1000">
              <a:latin typeface="Manrope"/>
              <a:ea typeface="Manrope"/>
              <a:cs typeface="Manrope"/>
              <a:sym typeface="Manrope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Poppins"/>
              <a:buAutoNum type="arabicPeriod"/>
            </a:pP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Do not mention your product/service here</a:t>
            </a:r>
            <a:r>
              <a:rPr lang="en-GB" sz="1000">
                <a:latin typeface="Manrope"/>
                <a:ea typeface="Manrope"/>
                <a:cs typeface="Manrope"/>
                <a:sym typeface="Manrope"/>
              </a:rPr>
              <a:t>. This slide should only focus on the problem to solve.</a:t>
            </a:r>
            <a:endParaRPr sz="1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g2f5fe1d4c25_0_53"/>
          <p:cNvSpPr txBox="1"/>
          <p:nvPr/>
        </p:nvSpPr>
        <p:spPr>
          <a:xfrm>
            <a:off x="210000" y="210000"/>
            <a:ext cx="2236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99999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The</a:t>
            </a:r>
            <a:r>
              <a:rPr lang="en-GB" sz="2300">
                <a:latin typeface="Manrope ExtraBold"/>
                <a:ea typeface="Manrope ExtraBold"/>
                <a:cs typeface="Manrope ExtraBold"/>
                <a:sym typeface="Manrope ExtraBold"/>
              </a:rPr>
              <a:t> problem</a:t>
            </a:r>
            <a:r>
              <a:rPr lang="en-GB" sz="2300">
                <a:solidFill>
                  <a:srgbClr val="99999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to address</a:t>
            </a:r>
            <a:endParaRPr sz="2000">
              <a:solidFill>
                <a:srgbClr val="99999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0" name="Google Shape;110;g2f5fe1d4c25_0_53"/>
          <p:cNvSpPr/>
          <p:nvPr/>
        </p:nvSpPr>
        <p:spPr>
          <a:xfrm>
            <a:off x="2596150" y="3490775"/>
            <a:ext cx="6338100" cy="144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C</a:t>
            </a: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ustomer problem statement</a:t>
            </a:r>
            <a:endParaRPr b="1" sz="10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i="1" lang="en-GB" sz="100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(Write your customer problem statement here. </a:t>
            </a:r>
            <a:r>
              <a:rPr b="1" i="1" lang="en-GB" sz="100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Make sure it includes the customer segment, customer goal, and most critical unwanted pain/desired gain</a:t>
            </a:r>
            <a:r>
              <a:rPr i="1" lang="en-GB" sz="100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.)</a:t>
            </a:r>
            <a:endParaRPr sz="1000">
              <a:solidFill>
                <a:srgbClr val="FF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1" name="Google Shape;111;g2f5fe1d4c25_0_53"/>
          <p:cNvSpPr/>
          <p:nvPr/>
        </p:nvSpPr>
        <p:spPr>
          <a:xfrm>
            <a:off x="2596150" y="209562"/>
            <a:ext cx="6338100" cy="144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Customer goal</a:t>
            </a:r>
            <a:endParaRPr b="1" sz="10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i="1" lang="en-GB" sz="100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(Write your customer’s goal here)</a:t>
            </a:r>
            <a:endParaRPr sz="1000">
              <a:solidFill>
                <a:srgbClr val="FF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2" name="Google Shape;112;g2f5fe1d4c25_0_53"/>
          <p:cNvSpPr/>
          <p:nvPr/>
        </p:nvSpPr>
        <p:spPr>
          <a:xfrm>
            <a:off x="2596150" y="1849948"/>
            <a:ext cx="6338100" cy="144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latin typeface="Manrope"/>
                <a:ea typeface="Manrope"/>
                <a:cs typeface="Manrope"/>
                <a:sym typeface="Manrope"/>
              </a:rPr>
              <a:t>Customer’s most critical unwanted pain or desired gain</a:t>
            </a:r>
            <a:endParaRPr b="1" sz="10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i="1" lang="en-GB" sz="100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(Write your customer’s most critical pain/gain here)</a:t>
            </a:r>
            <a:endParaRPr sz="1000">
              <a:solidFill>
                <a:srgbClr val="FF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